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de Gestion de Fêtes et Événements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d'Ensemble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Plateforme digitale de gestion d'événements</a:t>
            </a:r>
          </a:p>
          <a:p>
            <a:pPr>
              <a:defRPr sz="1800"/>
            </a:pPr>
            <a:r>
              <a:t>Solution complète pour la planification et l'organisation de fêtes</a:t>
            </a:r>
          </a:p>
          <a:p>
            <a:pPr>
              <a:defRPr sz="1800"/>
            </a:pPr>
            <a:r>
              <a:t>Public cible: Particuliers et professionnels de l'événementiel</a:t>
            </a:r>
          </a:p>
          <a:p>
            <a:pPr>
              <a:defRPr sz="1800"/>
            </a:pPr>
            <a:r>
              <a:t>Objectif: Simplifier l'organisation d'événements mémorables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SCP -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Segment 1: Particuliers (mariages, anniversaires, fêtes familiales)</a:t>
            </a:r>
          </a:p>
          <a:p>
            <a:pPr>
              <a:defRPr sz="1800"/>
            </a:pPr>
            <a:r>
              <a:t>  - Âge: 25-55 ans</a:t>
            </a:r>
          </a:p>
          <a:p>
            <a:pPr>
              <a:defRPr sz="1800"/>
            </a:pPr>
            <a:r>
              <a:t>  - Revenus moyens à élevés</a:t>
            </a:r>
          </a:p>
          <a:p>
            <a:pPr>
              <a:defRPr sz="1800"/>
            </a:pPr>
            <a:r>
              <a:t>  - Recherchent simplicité et qualité</a:t>
            </a:r>
          </a:p>
          <a:p>
            <a:pPr>
              <a:defRPr sz="1800"/>
            </a:pPr>
            <a:r>
              <a:t>Segment 2: Professionnels de l'événementiel</a:t>
            </a:r>
          </a:p>
          <a:p>
            <a:pPr>
              <a:defRPr sz="1800"/>
            </a:pPr>
            <a:r>
              <a:t>  - Organisateurs d'événements</a:t>
            </a:r>
          </a:p>
          <a:p>
            <a:pPr>
              <a:defRPr sz="1800"/>
            </a:pPr>
            <a:r>
              <a:t>  - Entreprises (événements corporatifs)</a:t>
            </a:r>
          </a:p>
          <a:p>
            <a:pPr>
              <a:defRPr sz="1800"/>
            </a:pPr>
            <a:r>
              <a:t>  - Besoin d'outils professionnels et de gestion</a:t>
            </a:r>
          </a:p>
          <a:p>
            <a:pPr>
              <a:defRPr sz="1800"/>
            </a:pPr>
            <a:r>
              <a:t>Segment 3: Petites entreprises et associations</a:t>
            </a:r>
          </a:p>
          <a:p>
            <a:pPr>
              <a:defRPr sz="1800"/>
            </a:pPr>
            <a:r>
              <a:t>  - Budget limité</a:t>
            </a:r>
          </a:p>
          <a:p>
            <a:pPr>
              <a:defRPr sz="1800"/>
            </a:pPr>
            <a:r>
              <a:t>  - Événements récurrents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SCP - Ciblage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Cible Principale: Particuliers organisateurs d'événements</a:t>
            </a:r>
          </a:p>
          <a:p>
            <a:pPr>
              <a:defRPr sz="1800"/>
            </a:pPr>
            <a:r>
              <a:t>  - 25-45 ans, urbains, connectés digitalement</a:t>
            </a:r>
          </a:p>
          <a:p>
            <a:pPr>
              <a:defRPr sz="1800"/>
            </a:pPr>
            <a:r>
              <a:t>  - Recherchent des solutions clés en main</a:t>
            </a:r>
          </a:p>
          <a:p>
            <a:pPr>
              <a:defRPr sz="1800"/>
            </a:pPr>
            <a:r>
              <a:t>  - Valorisent le gain de temps et la qualité</a:t>
            </a:r>
          </a:p>
          <a:p>
            <a:pPr>
              <a:defRPr sz="1800"/>
            </a:pPr>
            <a:r>
              <a:t>Cible Secondaire: Organisateurs professionnels</a:t>
            </a:r>
          </a:p>
          <a:p>
            <a:pPr>
              <a:defRPr sz="1800"/>
            </a:pPr>
            <a:r>
              <a:t>  - Agences événementielles de petite à moyenne taille</a:t>
            </a:r>
          </a:p>
          <a:p>
            <a:pPr>
              <a:defRPr sz="1800"/>
            </a:pPr>
            <a:r>
              <a:t>  - Besoin d'optimiser leur workflow</a:t>
            </a:r>
          </a:p>
          <a:p>
            <a:pPr>
              <a:defRPr sz="1800"/>
            </a:pPr>
            <a:r>
              <a:t>Critères de sélection:</a:t>
            </a:r>
          </a:p>
          <a:p>
            <a:pPr>
              <a:defRPr sz="1800"/>
            </a:pPr>
            <a:r>
              <a:t>  - Potentiel de croissance élevé</a:t>
            </a:r>
          </a:p>
          <a:p>
            <a:pPr>
              <a:defRPr sz="1800"/>
            </a:pPr>
            <a:r>
              <a:t>  - Adoption technologique forte</a:t>
            </a:r>
          </a:p>
          <a:p>
            <a:pPr>
              <a:defRPr sz="1800"/>
            </a:pPr>
            <a:r>
              <a:t>  - Capacité de dépense confirmée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SCP -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Position: 'La plateforme tout-en-un pour des événements réussis'</a:t>
            </a:r>
          </a:p>
          <a:p>
            <a:pPr>
              <a:defRPr sz="1800"/>
            </a:pPr>
            <a:r>
              <a:t>Proposition de valeur unique:</a:t>
            </a:r>
          </a:p>
          <a:p>
            <a:pPr>
              <a:defRPr sz="1800"/>
            </a:pPr>
            <a:r>
              <a:t>  - Interface intuitive et conviviale</a:t>
            </a:r>
          </a:p>
          <a:p>
            <a:pPr>
              <a:defRPr sz="1800"/>
            </a:pPr>
            <a:r>
              <a:t>  - Gestion complète de A à Z</a:t>
            </a:r>
          </a:p>
          <a:p>
            <a:pPr>
              <a:defRPr sz="1800"/>
            </a:pPr>
            <a:r>
              <a:t>  - Réseau de prestataires vérifiés</a:t>
            </a:r>
          </a:p>
          <a:p>
            <a:pPr>
              <a:defRPr sz="1800"/>
            </a:pPr>
            <a:r>
              <a:t>  - Outils de budgétisation et de suivi</a:t>
            </a:r>
          </a:p>
          <a:p>
            <a:pPr>
              <a:defRPr sz="1800"/>
            </a:pPr>
            <a:r>
              <a:t>Avantages concurrentiels:</a:t>
            </a:r>
          </a:p>
          <a:p>
            <a:pPr>
              <a:defRPr sz="1800"/>
            </a:pPr>
            <a:r>
              <a:t>  - Technologie innovante et moderne</a:t>
            </a:r>
          </a:p>
          <a:p>
            <a:pPr>
              <a:defRPr sz="1800"/>
            </a:pPr>
            <a:r>
              <a:t>  - Service client réactif et personnalisé</a:t>
            </a:r>
          </a:p>
          <a:p>
            <a:pPr>
              <a:defRPr sz="1800"/>
            </a:pPr>
            <a:r>
              <a:t>  - Tarification transparente et flexible</a:t>
            </a:r>
          </a:p>
          <a:p>
            <a:pPr>
              <a:defRPr sz="1800"/>
            </a:pPr>
            <a:r>
              <a:t>Différenciation: Combinaison unique de simplicité d'utilisation et de fonctionnalités professionnelles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4P - Produit (Product)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Offre de produit:</a:t>
            </a:r>
          </a:p>
          <a:p>
            <a:pPr>
              <a:defRPr sz="1800"/>
            </a:pPr>
            <a:r>
              <a:t>  - Plateforme web et application mobile</a:t>
            </a:r>
          </a:p>
          <a:p>
            <a:pPr>
              <a:defRPr sz="1800"/>
            </a:pPr>
            <a:r>
              <a:t>  - Gestion de budget et devis automatisés</a:t>
            </a:r>
          </a:p>
          <a:p>
            <a:pPr>
              <a:defRPr sz="1800"/>
            </a:pPr>
            <a:r>
              <a:t>  - Catalogue de prestataires (traiteurs, DJ, photographes...)</a:t>
            </a:r>
          </a:p>
          <a:p>
            <a:pPr>
              <a:defRPr sz="1800"/>
            </a:pPr>
            <a:r>
              <a:t>  - Outils de planification et timeline</a:t>
            </a:r>
          </a:p>
          <a:p>
            <a:pPr>
              <a:defRPr sz="1800"/>
            </a:pPr>
            <a:r>
              <a:t>  - Liste d'invités et gestion des RSVP</a:t>
            </a:r>
          </a:p>
          <a:p>
            <a:pPr>
              <a:defRPr sz="1800"/>
            </a:pPr>
            <a:r>
              <a:t>  - Templates personnalisables</a:t>
            </a:r>
          </a:p>
          <a:p>
            <a:pPr>
              <a:defRPr sz="1800"/>
            </a:pPr>
            <a:r>
              <a:t>Fonctionnalités premium:</a:t>
            </a:r>
          </a:p>
          <a:p>
            <a:pPr>
              <a:defRPr sz="1800"/>
            </a:pPr>
            <a:r>
              <a:t>  - Coordination avec prestataires en temps réel</a:t>
            </a:r>
          </a:p>
          <a:p>
            <a:pPr>
              <a:defRPr sz="1800"/>
            </a:pPr>
            <a:r>
              <a:t>  - Analytics et rapports détaillés</a:t>
            </a:r>
          </a:p>
          <a:p>
            <a:pPr>
              <a:defRPr sz="1800"/>
            </a:pPr>
            <a:r>
              <a:t>  - Support prioritaire 24/7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4P - Prix (Price)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Stratégie tarifaire: Freemium + Abonnement</a:t>
            </a:r>
          </a:p>
          <a:p>
            <a:pPr>
              <a:defRPr sz="1800"/>
            </a:pPr>
            <a:r>
              <a:t>Version Gratuite:</a:t>
            </a:r>
          </a:p>
          <a:p>
            <a:pPr>
              <a:defRPr sz="1800"/>
            </a:pPr>
            <a:r>
              <a:t>  - Fonctionnalités de base limitées</a:t>
            </a:r>
          </a:p>
          <a:p>
            <a:pPr>
              <a:defRPr sz="1800"/>
            </a:pPr>
            <a:r>
              <a:t>  - 1 événement actif maximum</a:t>
            </a:r>
          </a:p>
          <a:p>
            <a:pPr>
              <a:defRPr sz="1800"/>
            </a:pPr>
            <a:r>
              <a:t>  - Support communautaire</a:t>
            </a:r>
          </a:p>
          <a:p>
            <a:pPr>
              <a:defRPr sz="1800"/>
            </a:pPr>
            <a:r>
              <a:t>Version Premium: 29€/mois ou 290€/an</a:t>
            </a:r>
          </a:p>
          <a:p>
            <a:pPr>
              <a:defRPr sz="1800"/>
            </a:pPr>
            <a:r>
              <a:t>  - Événements illimités</a:t>
            </a:r>
          </a:p>
          <a:p>
            <a:pPr>
              <a:defRPr sz="1800"/>
            </a:pPr>
            <a:r>
              <a:t>  - Toutes les fonctionnalités</a:t>
            </a:r>
          </a:p>
          <a:p>
            <a:pPr>
              <a:defRPr sz="1800"/>
            </a:pPr>
            <a:r>
              <a:t>  - Support prioritaire</a:t>
            </a:r>
          </a:p>
          <a:p>
            <a:pPr>
              <a:defRPr sz="1800"/>
            </a:pPr>
            <a:r>
              <a:t>Version Professionnelle: 99€/mois</a:t>
            </a:r>
          </a:p>
          <a:p>
            <a:pPr>
              <a:defRPr sz="1800"/>
            </a:pPr>
            <a:r>
              <a:t>  - Multi-utilisateurs</a:t>
            </a:r>
          </a:p>
          <a:p>
            <a:pPr>
              <a:defRPr sz="1800"/>
            </a:pPr>
            <a:r>
              <a:t>  - API et intégrations avancées</a:t>
            </a:r>
          </a:p>
          <a:p>
            <a:pPr>
              <a:defRPr sz="1800"/>
            </a:pPr>
            <a:r>
              <a:t>  - Compte manager dédié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4P - Place (Distribution)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Canaux de distribution:</a:t>
            </a:r>
          </a:p>
          <a:p>
            <a:pPr>
              <a:defRPr sz="1800"/>
            </a:pPr>
            <a:r>
              <a:t>  - Site web principal (plateforme en ligne)</a:t>
            </a:r>
          </a:p>
          <a:p>
            <a:pPr>
              <a:defRPr sz="1800"/>
            </a:pPr>
            <a:r>
              <a:t>  - Application mobile iOS et Android</a:t>
            </a:r>
          </a:p>
          <a:p>
            <a:pPr>
              <a:defRPr sz="1800"/>
            </a:pPr>
            <a:r>
              <a:t>  - Stores: App Store et Google Play</a:t>
            </a:r>
          </a:p>
          <a:p>
            <a:pPr>
              <a:defRPr sz="1800"/>
            </a:pPr>
            <a:r>
              <a:t>Accessibilité:</a:t>
            </a:r>
          </a:p>
          <a:p>
            <a:pPr>
              <a:defRPr sz="1800"/>
            </a:pPr>
            <a:r>
              <a:t>  - 100% digital, accessible 24/7</a:t>
            </a:r>
          </a:p>
          <a:p>
            <a:pPr>
              <a:defRPr sz="1800"/>
            </a:pPr>
            <a:r>
              <a:t>  - Compatible desktop, tablette, mobile</a:t>
            </a:r>
          </a:p>
          <a:p>
            <a:pPr>
              <a:defRPr sz="1800"/>
            </a:pPr>
            <a:r>
              <a:t>  - Interface multilingue</a:t>
            </a:r>
          </a:p>
          <a:p>
            <a:pPr>
              <a:defRPr sz="1800"/>
            </a:pPr>
            <a:r>
              <a:t>Points de contact:</a:t>
            </a:r>
          </a:p>
          <a:p>
            <a:pPr>
              <a:defRPr sz="1800"/>
            </a:pPr>
            <a:r>
              <a:t>  - Réseaux sociaux (Instagram, Facebook, LinkedIn)</a:t>
            </a:r>
          </a:p>
          <a:p>
            <a:pPr>
              <a:defRPr sz="1800"/>
            </a:pPr>
            <a:r>
              <a:t>  - Partenariats avec salles de fêtes et prestataires</a:t>
            </a:r>
          </a:p>
          <a:p>
            <a:pPr>
              <a:defRPr sz="1800"/>
            </a:pPr>
            <a:r>
              <a:t>  - Présence sur événements professionnels (salons du mariage,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4P -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Stratégie de communication:</a:t>
            </a:r>
          </a:p>
          <a:p>
            <a:pPr>
              <a:defRPr sz="1800"/>
            </a:pPr>
            <a:r>
              <a:t>Marketing digital:</a:t>
            </a:r>
          </a:p>
          <a:p>
            <a:pPr>
              <a:defRPr sz="1800"/>
            </a:pPr>
            <a:r>
              <a:t>  - SEO/SEM (référencement naturel et payant)</a:t>
            </a:r>
          </a:p>
          <a:p>
            <a:pPr>
              <a:defRPr sz="1800"/>
            </a:pPr>
            <a:r>
              <a:t>  - Publicités Facebook et Instagram</a:t>
            </a:r>
          </a:p>
          <a:p>
            <a:pPr>
              <a:defRPr sz="1800"/>
            </a:pPr>
            <a:r>
              <a:t>  - Content marketing (blog, guides pratiques)</a:t>
            </a:r>
          </a:p>
          <a:p>
            <a:pPr>
              <a:defRPr sz="1800"/>
            </a:pPr>
            <a:r>
              <a:t>  - Email marketing et newsletters</a:t>
            </a:r>
          </a:p>
          <a:p>
            <a:pPr>
              <a:defRPr sz="1800"/>
            </a:pPr>
            <a:r>
              <a:t>Marketing d'influence:</a:t>
            </a:r>
          </a:p>
          <a:p>
            <a:pPr>
              <a:defRPr sz="1800"/>
            </a:pPr>
            <a:r>
              <a:t>  - Partenariats avec influenceurs lifestyle</a:t>
            </a:r>
          </a:p>
          <a:p>
            <a:pPr>
              <a:defRPr sz="1800"/>
            </a:pPr>
            <a:r>
              <a:t>  - Témoignages clients et études de cas</a:t>
            </a:r>
          </a:p>
          <a:p>
            <a:pPr>
              <a:defRPr sz="1800"/>
            </a:pPr>
            <a:r>
              <a:t>Promotions:</a:t>
            </a:r>
          </a:p>
          <a:p>
            <a:pPr>
              <a:defRPr sz="1800"/>
            </a:pPr>
            <a:r>
              <a:t>  - 1 mois gratuit pour les nouveaux utilisateurs</a:t>
            </a:r>
          </a:p>
          <a:p>
            <a:pPr>
              <a:defRPr sz="1800"/>
            </a:pPr>
            <a:r>
              <a:t>  - Programme de parrainage (réductions)</a:t>
            </a:r>
          </a:p>
          <a:p>
            <a:pPr>
              <a:defRPr sz="1800"/>
            </a:pPr>
            <a:r>
              <a:t>  - Offres spéciales pour événements de grande envergure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Persona - Sarah, l'Organisatrice Particulière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Démographie:</a:t>
            </a:r>
          </a:p>
          <a:p>
            <a:pPr>
              <a:defRPr sz="1800"/>
            </a:pPr>
            <a:r>
              <a:t>  - 32 ans, mariée, 1 enfant</a:t>
            </a:r>
          </a:p>
          <a:p>
            <a:pPr>
              <a:defRPr sz="1800"/>
            </a:pPr>
            <a:r>
              <a:t>  - Cadre dans une entreprise de marketing</a:t>
            </a:r>
          </a:p>
          <a:p>
            <a:pPr>
              <a:defRPr sz="1800"/>
            </a:pPr>
            <a:r>
              <a:t>  - Habite en zone urbaine, revenus confortables</a:t>
            </a:r>
          </a:p>
          <a:p>
            <a:pPr>
              <a:defRPr sz="1800"/>
            </a:pPr>
            <a:r>
              <a:t>Objectifs:</a:t>
            </a:r>
          </a:p>
          <a:p>
            <a:pPr>
              <a:defRPr sz="1800"/>
            </a:pPr>
            <a:r>
              <a:t>  - Organiser le mariage de sa sœur</a:t>
            </a:r>
          </a:p>
          <a:p>
            <a:pPr>
              <a:defRPr sz="1800"/>
            </a:pPr>
            <a:r>
              <a:t>  - Créer un événement mémorable dans son budget</a:t>
            </a:r>
          </a:p>
          <a:p>
            <a:pPr>
              <a:defRPr sz="1800"/>
            </a:pPr>
            <a:r>
              <a:t>  - Gagner du temps dans l'organisation</a:t>
            </a:r>
          </a:p>
          <a:p>
            <a:pPr>
              <a:defRPr sz="1800"/>
            </a:pPr>
            <a:r>
              <a:t>Défis:</a:t>
            </a:r>
          </a:p>
          <a:p>
            <a:pPr>
              <a:defRPr sz="1800"/>
            </a:pPr>
            <a:r>
              <a:t>  - Manque de temps avec son travail</a:t>
            </a:r>
          </a:p>
          <a:p>
            <a:pPr>
              <a:defRPr sz="1800"/>
            </a:pPr>
            <a:r>
              <a:t>  - Difficulté à coordonner plusieurs prestataires</a:t>
            </a:r>
          </a:p>
          <a:p>
            <a:pPr>
              <a:defRPr sz="1800"/>
            </a:pPr>
            <a:r>
              <a:t>  - Stress de la gestion du budget</a:t>
            </a:r>
          </a:p>
          <a:p>
            <a:pPr>
              <a:defRPr sz="1800"/>
            </a:pPr>
            <a:r>
              <a:t>Comportement:</a:t>
            </a:r>
          </a:p>
          <a:p>
            <a:pPr>
              <a:defRPr sz="1800"/>
            </a:pPr>
            <a:r>
              <a:t>  - Recherche en ligne de solutions</a:t>
            </a:r>
          </a:p>
          <a:p>
            <a:pPr>
              <a:defRPr sz="1800"/>
            </a:pPr>
            <a:r>
              <a:t>  - Active sur les réseaux sociaux</a:t>
            </a:r>
          </a:p>
          <a:p>
            <a:pPr>
              <a:defRPr sz="1800"/>
            </a:pPr>
            <a:r>
              <a:t>  - Lit les avis avant de choisir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Persona - Marc, le Pro de l'Événementiel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Démographie:</a:t>
            </a:r>
          </a:p>
          <a:p>
            <a:pPr>
              <a:defRPr sz="1800"/>
            </a:pPr>
            <a:r>
              <a:t>  - 38 ans, entrepreneur</a:t>
            </a:r>
          </a:p>
          <a:p>
            <a:pPr>
              <a:defRPr sz="1800"/>
            </a:pPr>
            <a:r>
              <a:t>  - Directeur d'une agence événementielle</a:t>
            </a:r>
          </a:p>
          <a:p>
            <a:pPr>
              <a:defRPr sz="1800"/>
            </a:pPr>
            <a:r>
              <a:t>  - Gère 20-30 événements par an</a:t>
            </a:r>
          </a:p>
          <a:p>
            <a:pPr>
              <a:defRPr sz="1800"/>
            </a:pPr>
            <a:r>
              <a:t>Objectifs:</a:t>
            </a:r>
          </a:p>
          <a:p>
            <a:pPr>
              <a:defRPr sz="1800"/>
            </a:pPr>
            <a:r>
              <a:t>  - Optimiser la gestion de ses événements</a:t>
            </a:r>
          </a:p>
          <a:p>
            <a:pPr>
              <a:defRPr sz="1800"/>
            </a:pPr>
            <a:r>
              <a:t>  - Améliorer la satisfaction client</a:t>
            </a:r>
          </a:p>
          <a:p>
            <a:pPr>
              <a:defRPr sz="1800"/>
            </a:pPr>
            <a:r>
              <a:t>  - Augmenter sa rentabilité</a:t>
            </a:r>
          </a:p>
          <a:p>
            <a:pPr>
              <a:defRPr sz="1800"/>
            </a:pPr>
            <a:r>
              <a:t>Défis:</a:t>
            </a:r>
          </a:p>
          <a:p>
            <a:pPr>
              <a:defRPr sz="1800"/>
            </a:pPr>
            <a:r>
              <a:t>  - Gestion de multiples projets simultanés</a:t>
            </a:r>
          </a:p>
          <a:p>
            <a:pPr>
              <a:defRPr sz="1800"/>
            </a:pPr>
            <a:r>
              <a:t>  - Coordination d'équipes et prestataires</a:t>
            </a:r>
          </a:p>
          <a:p>
            <a:pPr>
              <a:defRPr sz="1800"/>
            </a:pPr>
            <a:r>
              <a:t>  - Suivi financier complexe</a:t>
            </a:r>
          </a:p>
          <a:p>
            <a:pPr>
              <a:defRPr sz="1800"/>
            </a:pPr>
            <a:r>
              <a:t>Comportement:</a:t>
            </a:r>
          </a:p>
          <a:p>
            <a:pPr>
              <a:defRPr sz="1800"/>
            </a:pPr>
            <a:r>
              <a:t>  - Recherche des outils professionnels</a:t>
            </a:r>
          </a:p>
          <a:p>
            <a:pPr>
              <a:defRPr sz="1800"/>
            </a:pPr>
            <a:r>
              <a:t>  - Valorise l'efficacité et le ROI</a:t>
            </a:r>
          </a:p>
          <a:p>
            <a:pPr>
              <a:defRPr sz="1800"/>
            </a:pPr>
            <a:r>
              <a:t>  - Besoin de formations et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Parcours d'Achat Idéal - Prise de conscience &amp; Considération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Prise de conscience (Awareness):</a:t>
            </a:r>
          </a:p>
          <a:p>
            <a:pPr>
              <a:defRPr sz="1800"/>
            </a:pPr>
            <a:r>
              <a:t>  - Déclencheur: Événement à organiser</a:t>
            </a:r>
          </a:p>
          <a:p>
            <a:pPr>
              <a:defRPr sz="1800"/>
            </a:pPr>
            <a:r>
              <a:t>  - Problème identifié: Complexité de l'organisation</a:t>
            </a:r>
          </a:p>
          <a:p>
            <a:pPr>
              <a:defRPr sz="1800"/>
            </a:pPr>
            <a:r>
              <a:t>  - Recherche Google: 'comment organiser une fête', 'plateforme événement'</a:t>
            </a:r>
          </a:p>
          <a:p>
            <a:pPr>
              <a:defRPr sz="1800"/>
            </a:pPr>
            <a:r>
              <a:t>  - Découverte via: Publicité, recommandation, article de blog</a:t>
            </a:r>
          </a:p>
          <a:p>
            <a:pPr>
              <a:defRPr sz="1800"/>
            </a:pPr>
            <a:r>
              <a:t>  - Actions marketing: SEO, contenu éducatif, publicités ciblées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Considération:</a:t>
            </a:r>
          </a:p>
          <a:p>
            <a:pPr>
              <a:defRPr sz="1800"/>
            </a:pPr>
            <a:r>
              <a:t>  - Visite du site web</a:t>
            </a:r>
          </a:p>
          <a:p>
            <a:pPr>
              <a:defRPr sz="1800"/>
            </a:pPr>
            <a:r>
              <a:t>  - Exploration des fonctionnalités</a:t>
            </a:r>
          </a:p>
          <a:p>
            <a:pPr>
              <a:defRPr sz="1800"/>
            </a:pPr>
            <a:r>
              <a:t>  - Comparaison avec concurrents</a:t>
            </a:r>
          </a:p>
          <a:p>
            <a:pPr>
              <a:defRPr sz="1800"/>
            </a:pPr>
            <a:r>
              <a:t>  - Lecture d'avis et témoignages</a:t>
            </a:r>
          </a:p>
          <a:p>
            <a:pPr>
              <a:defRPr sz="1800"/>
            </a:pPr>
            <a:r>
              <a:t>  - Actions marketing: Démos gratuites, guides comparatifs, webinaires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Parcours d'Achat Idéal - Décision &amp; Fidélisation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Décision:</a:t>
            </a:r>
          </a:p>
          <a:p>
            <a:pPr>
              <a:defRPr sz="1800"/>
            </a:pPr>
            <a:r>
              <a:t>  - Inscription gratuite ou essai</a:t>
            </a:r>
          </a:p>
          <a:p>
            <a:pPr>
              <a:defRPr sz="1800"/>
            </a:pPr>
            <a:r>
              <a:t>  - Création du premier événement</a:t>
            </a:r>
          </a:p>
          <a:p>
            <a:pPr>
              <a:defRPr sz="1800"/>
            </a:pPr>
            <a:r>
              <a:t>  - Expérience positive avec version gratuite</a:t>
            </a:r>
          </a:p>
          <a:p>
            <a:pPr>
              <a:defRPr sz="1800"/>
            </a:pPr>
            <a:r>
              <a:t>  - Besoin de fonctionnalités avancées</a:t>
            </a:r>
          </a:p>
          <a:p>
            <a:pPr>
              <a:defRPr sz="1800"/>
            </a:pPr>
            <a:r>
              <a:t>  - Décision d'upgrade vers version payante</a:t>
            </a:r>
          </a:p>
          <a:p>
            <a:pPr>
              <a:defRPr sz="1800"/>
            </a:pPr>
            <a:r>
              <a:t>  - Actions marketing: Essai gratuit, onboarding personnalisé, promo launch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Fidélisation et Advocacy:</a:t>
            </a:r>
          </a:p>
          <a:p>
            <a:pPr>
              <a:defRPr sz="1800"/>
            </a:pPr>
            <a:r>
              <a:t>  - Utilisation régulière de la plateforme</a:t>
            </a:r>
          </a:p>
          <a:p>
            <a:pPr>
              <a:defRPr sz="1800"/>
            </a:pPr>
            <a:r>
              <a:t>  - Événement réussi grâce à l'outil</a:t>
            </a:r>
          </a:p>
          <a:p>
            <a:pPr>
              <a:defRPr sz="1800"/>
            </a:pPr>
            <a:r>
              <a:t>  - Renouvellement de l'abonnement</a:t>
            </a:r>
          </a:p>
          <a:p>
            <a:pPr>
              <a:defRPr sz="1800"/>
            </a:pPr>
            <a:r>
              <a:t>  - Recommandation à l'entourage</a:t>
            </a:r>
          </a:p>
          <a:p>
            <a:pPr>
              <a:defRPr sz="1800"/>
            </a:pPr>
            <a:r>
              <a:t>  - Actions marketing: Programme fidélité, support excellent, communauté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Parcours d'Achat - Vue Complète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AWARENESS → CONSIDÉRATION → DÉCISION → FIDÉLISATION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Touchpoints clés:</a:t>
            </a:r>
          </a:p>
          <a:p>
            <a:pPr>
              <a:defRPr sz="1800"/>
            </a:pPr>
            <a:r>
              <a:t>  • Google Ads / SEO → Site web → Inscription gratuite → Usage → Upgrade</a:t>
            </a:r>
          </a:p>
          <a:p>
            <a:pPr>
              <a:defRPr sz="1800"/>
            </a:pPr>
            <a:r>
              <a:t>  • Réseaux sociaux → Landing page → Démo → Essai → Abonnement</a:t>
            </a:r>
          </a:p>
          <a:p>
            <a:pPr>
              <a:defRPr sz="1800"/>
            </a:pPr>
            <a:r>
              <a:t>  • Recommandation → Visite → Comparaison → Achat → Parrainage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Durée moyenne du cycle:</a:t>
            </a:r>
          </a:p>
          <a:p>
            <a:pPr>
              <a:defRPr sz="1800"/>
            </a:pPr>
            <a:r>
              <a:t>  • Particuliers: 2-4 semaines</a:t>
            </a:r>
          </a:p>
          <a:p>
            <a:pPr>
              <a:defRPr sz="1800"/>
            </a:pPr>
            <a:r>
              <a:t>  • Professionnels: 1-2 mois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KPIs de suivi:</a:t>
            </a:r>
          </a:p>
          <a:p>
            <a:pPr>
              <a:defRPr sz="1800"/>
            </a:pPr>
            <a:r>
              <a:t>  • Taux de conversion visiteur → inscrit: 15%</a:t>
            </a:r>
          </a:p>
          <a:p>
            <a:pPr>
              <a:defRPr sz="1800"/>
            </a:pPr>
            <a:r>
              <a:t>  • Taux de conversion gratuit → payant: 8%</a:t>
            </a:r>
          </a:p>
          <a:p>
            <a:pPr>
              <a:defRPr sz="1800"/>
            </a:pPr>
            <a:r>
              <a:t>  • Taux de rétention à 12 mois: 70%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Résumé du plan marketing:</a:t>
            </a:r>
          </a:p>
          <a:p>
            <a:pPr>
              <a:defRPr sz="1800"/>
            </a:pPr>
            <a:r>
              <a:t>  - Positionnement clair sur le marché de l'événementiel</a:t>
            </a:r>
          </a:p>
          <a:p>
            <a:pPr>
              <a:defRPr sz="1800"/>
            </a:pPr>
            <a:r>
              <a:t>  - Mix marketing cohérent (4P) aligné sur nos cibles</a:t>
            </a:r>
          </a:p>
          <a:p>
            <a:pPr>
              <a:defRPr sz="1800"/>
            </a:pPr>
            <a:r>
              <a:t>  - Connaissance approfondie de nos buyer personas</a:t>
            </a:r>
          </a:p>
          <a:p>
            <a:pPr>
              <a:defRPr sz="1800"/>
            </a:pPr>
            <a:r>
              <a:t>  - Parcours d'achat optimisé pour la conversion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Prochaines étapes:</a:t>
            </a:r>
          </a:p>
          <a:p>
            <a:pPr>
              <a:defRPr sz="1800"/>
            </a:pPr>
            <a:r>
              <a:t>  1. Lancement de la campagne digitale (Mois 1-2)</a:t>
            </a:r>
          </a:p>
          <a:p>
            <a:pPr>
              <a:defRPr sz="1800"/>
            </a:pPr>
            <a:r>
              <a:t>  2. Développement de partenariats stratégiques (Mois 2-3)</a:t>
            </a:r>
          </a:p>
          <a:p>
            <a:pPr>
              <a:defRPr sz="1800"/>
            </a:pPr>
            <a:r>
              <a:t>  3. Amélioration continue basée sur les retours clients</a:t>
            </a:r>
          </a:p>
          <a:p>
            <a:pPr>
              <a:defRPr sz="1800"/>
            </a:pPr>
            <a:r>
              <a:t>  4. Expansion géographique (Phase 2)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Objectif année 1: 5000 utilisateurs actifs, 500 abonnés premium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